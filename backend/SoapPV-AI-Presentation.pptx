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5303520" y="-1097280"/>
            <a:ext cx="5029200" cy="777240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40000">
            <a:off x="6217920" y="-731520"/>
            <a:ext cx="3657600" cy="7315200"/>
          </a:xfrm>
          <a:prstGeom prst="rect">
            <a:avLst/>
          </a:prstGeom>
          <a:solidFill>
            <a:srgbClr val="2DD4BF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400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34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FMCG  ·  MANUFACTURING  ·  ML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1645920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27632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Soap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PV-AI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502920" y="29077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Value Prediction &amp; Process Optimization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3703320"/>
            <a:ext cx="832104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3886200"/>
            <a:ext cx="2029968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886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 R² = 0.91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79192" y="3886200"/>
            <a:ext cx="2029968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9192" y="3886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Next.js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55464" y="3886200"/>
            <a:ext cx="2029968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55464" y="3886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22,000 Training Rows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031736" y="3886200"/>
            <a:ext cx="2029968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31736" y="3886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CI/CD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Soap Quality Slip Through?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manufacturers control Penetration Value (PV) — a hardness metric in mm/10 — targeting 3.8–4.2. Miss it and the bar is too soft (cracks, dissolves fast) or too hard (poor lather, skin feel).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41148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31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 BUSINESS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batches/year · $200 rework per off-spec batch · 6% OOS reduction: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~$60,000 / year saved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 TARGET WINDOW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078224"/>
            <a:ext cx="2091690" cy="347472"/>
          </a:xfrm>
          <a:prstGeom prst="rect">
            <a:avLst/>
          </a:prstGeom>
          <a:solidFill>
            <a:srgbClr val="FBBF24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48890" y="4078224"/>
            <a:ext cx="2091690" cy="347472"/>
          </a:xfrm>
          <a:prstGeom prst="rect">
            <a:avLst/>
          </a:prstGeom>
          <a:solidFill>
            <a:srgbClr val="4ADE80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40580" y="4078224"/>
            <a:ext cx="4183380" cy="347472"/>
          </a:xfrm>
          <a:prstGeom prst="rect">
            <a:avLst/>
          </a:prstGeom>
          <a:solidFill>
            <a:srgbClr val="F87171">
              <a:alpha val="4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62272"/>
            <a:ext cx="2091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Under-Spec  &lt; 3.8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48890" y="4462272"/>
            <a:ext cx="20916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In-Spec  3.8 – 4.2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40580" y="4462272"/>
            <a:ext cx="4183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Over-Spec  &gt; 4.2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40233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280160"/>
            <a:ext cx="54864" cy="96012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4336" y="1554480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13248" y="137160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83–85% accuracy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13248" y="1664208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plant predictions miss target nearly 1 in 6 times, causing avoidable off-spec batches.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846320" y="2331720"/>
            <a:ext cx="40233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46320" y="2331720"/>
            <a:ext cx="54864" cy="9601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606040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13248" y="24231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correction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13248" y="2715768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discover PV issues only after lab testing — 20–40 min lag before corrective action.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846320" y="3383280"/>
            <a:ext cx="40233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846320" y="3383280"/>
            <a:ext cx="54864" cy="9601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3657600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13248" y="34747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guesswork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413248" y="3767328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adjustments rely on operator experience with no systematic optimization guidance.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SoapPV-AI — End-to-End ML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25880"/>
            <a:ext cx="1993392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1993392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488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22,000 rows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Features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Physics-inspired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04872" y="2478024"/>
            <a:ext cx="219456" cy="22860"/>
          </a:xfrm>
          <a:prstGeom prst="rect">
            <a:avLst/>
          </a:prstGeom>
          <a:solidFill>
            <a:srgbClr val="64748B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624328" y="1325880"/>
            <a:ext cx="1993392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4328" y="1325880"/>
            <a:ext cx="1993392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50876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5768" y="21488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15768" y="24688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0.91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 explainer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17720" y="2478024"/>
            <a:ext cx="219456" cy="22860"/>
          </a:xfrm>
          <a:prstGeom prst="rect">
            <a:avLst/>
          </a:prstGeom>
          <a:solidFill>
            <a:srgbClr val="64748B">
              <a:alpha val="6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837176" y="1325880"/>
            <a:ext cx="1993392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37176" y="1325880"/>
            <a:ext cx="1993392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50876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8616" y="21488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928616" y="24688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Endpoints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API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30568" y="2478024"/>
            <a:ext cx="219456" cy="22860"/>
          </a:xfrm>
          <a:prstGeom prst="rect">
            <a:avLst/>
          </a:prstGeom>
          <a:solidFill>
            <a:srgbClr val="64748B">
              <a:alpha val="6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050024" y="1325880"/>
            <a:ext cx="1993392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50024" y="1325880"/>
            <a:ext cx="1993392" cy="54864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50876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41464" y="21488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Dashboard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141464" y="24688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Pages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PV gauge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charts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11480" y="3794760"/>
            <a:ext cx="272491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11480" y="3794760"/>
            <a:ext cx="54864" cy="105156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93192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5840" y="38679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Prediction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418795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predicts PV in &lt;50ms from 6 process parameters + 26 engineered features. Confidence score included.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337560" y="3794760"/>
            <a:ext cx="272491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337560" y="3794760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931920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931920" y="38679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Optimizer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474720" y="418795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800-iteration perturbation search finds corrective parameter adjustments when PV drifts out of spec.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263640" y="3794760"/>
            <a:ext cx="272491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263640" y="3794760"/>
            <a:ext cx="54864" cy="105156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3931920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58000" y="38679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400800" y="4187952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Per-prediction SHAP waterfall shows which parameters drive PV up or down — operators understand the why.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22,000-Row Industrial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INPUTS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 Turbo Speed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1,800–2,800 RPM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4640" y="1627632"/>
            <a:ext cx="1417320" cy="14630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627632"/>
            <a:ext cx="878738" cy="146304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Noodler Turbo Speed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130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1,200–2,200 RPM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0" y="2039112"/>
            <a:ext cx="1417320" cy="14630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2834640" y="2039112"/>
            <a:ext cx="779526" cy="146304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40864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77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Pre-Plodder Speed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5420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1,400–2,400 RPM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2450592"/>
            <a:ext cx="1417320" cy="14630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Shape 18"/>
          <p:cNvSpPr/>
          <p:nvPr/>
        </p:nvSpPr>
        <p:spPr>
          <a:xfrm>
            <a:off x="2834640" y="2450592"/>
            <a:ext cx="850392" cy="146304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752344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788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Plodder Speed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29535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1,000–2,000 RPM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34640" y="2862072"/>
            <a:ext cx="1417320" cy="14630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5" name="Shape 23"/>
          <p:cNvSpPr/>
          <p:nvPr/>
        </p:nvSpPr>
        <p:spPr>
          <a:xfrm>
            <a:off x="2834640" y="2862072"/>
            <a:ext cx="708660" cy="146304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163824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00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Pressure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3649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400–700 mmHg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34640" y="3273552"/>
            <a:ext cx="1417320" cy="14630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273552"/>
            <a:ext cx="1133856" cy="146304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575304"/>
            <a:ext cx="3931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6118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Percentage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37764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0.5–4.0 %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4640" y="3685032"/>
            <a:ext cx="1417320" cy="14630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5" name="Shape 33"/>
          <p:cNvSpPr/>
          <p:nvPr/>
        </p:nvSpPr>
        <p:spPr>
          <a:xfrm>
            <a:off x="2834640" y="3685032"/>
            <a:ext cx="637794" cy="146304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12801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ENGINEERED FEATURES (32 TOTAL)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1517904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1517904"/>
            <a:ext cx="45720" cy="4389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5636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Statistics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17647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mean_turbo_speed · turbo_speed_std · turbo_speed_ratio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2011680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2011680"/>
            <a:ext cx="45720" cy="43891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05740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Features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54880" y="225856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pressure_deviation · vp_sq · vp_dev_sq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2505456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2505456"/>
            <a:ext cx="45720" cy="4389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25511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Indices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54880" y="27523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process_load_index · mechanical_energy_index · stability_score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17720" y="2999232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2999232"/>
            <a:ext cx="45720" cy="4389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30449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54880" y="32461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mixer_final_interaction · energy_vacuum_interaction · vp_sx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3493008"/>
            <a:ext cx="4251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3493008"/>
            <a:ext cx="45720" cy="43891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35387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Terms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54880" y="37398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mx_sq · fp_sq · sx_sq · pp_fp · mx_sx · log_mech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041648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QUALITY DISTRIBUTION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361688"/>
            <a:ext cx="6049167" cy="347472"/>
          </a:xfrm>
          <a:prstGeom prst="rect">
            <a:avLst/>
          </a:prstGeom>
          <a:solidFill>
            <a:srgbClr val="4ADE80">
              <a:alpha val="7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506367" y="4361688"/>
            <a:ext cx="1874154" cy="347472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80522" y="4361688"/>
            <a:ext cx="443438" cy="347472"/>
          </a:xfrm>
          <a:prstGeom prst="rect">
            <a:avLst/>
          </a:prstGeom>
          <a:solidFill>
            <a:srgbClr val="FBBF24">
              <a:alpha val="7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In-Spec 72.3%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64935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22.4%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405622" y="4407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Model — Beating the 87% Target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98448"/>
            <a:ext cx="1993392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1993392" cy="4572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43560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" y="18928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0.9105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84632" y="23957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4632" y="260604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06040" y="1298448"/>
            <a:ext cx="1993392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1298448"/>
            <a:ext cx="1993392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35608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79192" y="18928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0.0485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679192" y="23957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Units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679192" y="260604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00600" y="1298448"/>
            <a:ext cx="1993392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298448"/>
            <a:ext cx="1993392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35608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73752" y="18928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88.5%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4873752" y="23957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73752" y="260604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±0.1 PV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995160" y="1298448"/>
            <a:ext cx="1993392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95160" y="1298448"/>
            <a:ext cx="1993392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1435608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68312" y="189280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99.8%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7068312" y="23957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068312" y="260604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±0.2 PV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57200" y="3090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COMPARISON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3337560"/>
            <a:ext cx="836676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94360" y="3410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(Primary)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246120" y="3438144"/>
            <a:ext cx="3913632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Text 27"/>
          <p:cNvSpPr/>
          <p:nvPr/>
        </p:nvSpPr>
        <p:spPr>
          <a:xfrm>
            <a:off x="7251192" y="3410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0.9105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818120" y="3410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✓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57200" y="3730752"/>
            <a:ext cx="83667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3246120" y="3831336"/>
            <a:ext cx="1621536" cy="146304"/>
          </a:xfrm>
          <a:prstGeom prst="rect">
            <a:avLst/>
          </a:prstGeom>
          <a:solidFill>
            <a:srgbClr val="38BDF8">
              <a:alpha val="55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4959096" y="3803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0.8165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7200" y="4123944"/>
            <a:ext cx="83667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94360" y="4197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3246120" y="4224528"/>
            <a:ext cx="1243584" cy="146304"/>
          </a:xfrm>
          <a:prstGeom prst="rect">
            <a:avLst/>
          </a:prstGeom>
          <a:solidFill>
            <a:srgbClr val="A78BFA">
              <a:alpha val="5500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4581144" y="41970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0.8010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457200" y="4517136"/>
            <a:ext cx="836676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94360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3246120" y="4617720"/>
            <a:ext cx="882701" cy="146304"/>
          </a:xfrm>
          <a:prstGeom prst="rect">
            <a:avLst/>
          </a:prstGeom>
          <a:solidFill>
            <a:srgbClr val="64748B">
              <a:alpha val="5500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4220261" y="4590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0.7862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57200" y="4910328"/>
            <a:ext cx="8366760" cy="2011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2"/>
          <p:cNvSpPr/>
          <p:nvPr/>
        </p:nvSpPr>
        <p:spPr>
          <a:xfrm>
            <a:off x="457200" y="4910328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5-Fold CV:  R² = 0.8152 ± 0.0027  |  22,000 rows  |  32 Features  |  XGBoost: n_estimators=800, max_depth=6, lr=0.04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Drives Penetration Value?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 FEATURE IMPORTANCE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Pressure (quadratic)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17520" y="1636776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1636776"/>
            <a:ext cx="3678745" cy="182880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69417" y="16276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31.4%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Chamber Pressure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2066544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017520" y="2066544"/>
            <a:ext cx="3151537" cy="182880"/>
          </a:xfrm>
          <a:prstGeom prst="rect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42209" y="2057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26.9%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 Speed Std Dev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0" y="2496312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496312"/>
            <a:ext cx="820102" cy="182880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10774" y="2487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916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Deviation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926080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2926080"/>
            <a:ext cx="773239" cy="182880"/>
          </a:xfrm>
          <a:prstGeom prst="rect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863912" y="29169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6.6%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3467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Dev Squared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3355848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3355848"/>
            <a:ext cx="749808" cy="182880"/>
          </a:xfrm>
          <a:prstGeom prst="rect">
            <a:avLst/>
          </a:prstGeom>
          <a:solidFill>
            <a:srgbClr val="A78BFA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7764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 Speed (quadratic)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17520" y="3785616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785616"/>
            <a:ext cx="492061" cy="182880"/>
          </a:xfrm>
          <a:prstGeom prst="rect">
            <a:avLst/>
          </a:prstGeom>
          <a:solidFill>
            <a:srgbClr val="A78BFA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582734" y="3776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 Turbo Speed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0" y="4215384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2" name="Shape 30"/>
          <p:cNvSpPr/>
          <p:nvPr/>
        </p:nvSpPr>
        <p:spPr>
          <a:xfrm>
            <a:off x="3017520" y="4215384"/>
            <a:ext cx="386620" cy="18288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77292" y="4206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6360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 Speed Ratio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17520" y="4645152"/>
            <a:ext cx="3749040" cy="1828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6" name="Shape 34"/>
          <p:cNvSpPr/>
          <p:nvPr/>
        </p:nvSpPr>
        <p:spPr>
          <a:xfrm>
            <a:off x="3017520" y="4645152"/>
            <a:ext cx="269462" cy="18288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60134" y="46360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1536192"/>
            <a:ext cx="397764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1536192"/>
            <a:ext cx="3977640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19072"/>
            <a:ext cx="329184" cy="32918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458968" y="16459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dominates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5029200" y="195681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chamber pressure accounts for 58% of combined XGBoost importance. Optimal window is 520–580 mmHg — the quadratic term captures the nonlinear effect.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92040" y="2679192"/>
            <a:ext cx="397764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892040" y="2679192"/>
            <a:ext cx="3977640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62072"/>
            <a:ext cx="329184" cy="329184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458968" y="27889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Nonlinearity matters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5029200" y="309981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and interaction features (vp_sq, mx_sx, energy_vacuum) contributed +12% R² over linear baselines. Physics-inspired engineering was essential.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892040" y="3822192"/>
            <a:ext cx="397764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892040" y="3822192"/>
            <a:ext cx="3977640" cy="4572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005072"/>
            <a:ext cx="329184" cy="329184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458968" y="39319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is secondary</a:t>
            </a:r>
            <a:endParaRPr lang="en-US" sz="1150" dirty="0"/>
          </a:p>
        </p:txBody>
      </p:sp>
      <p:sp>
        <p:nvSpPr>
          <p:cNvPr id="53" name="Text 48"/>
          <p:cNvSpPr/>
          <p:nvPr/>
        </p:nvSpPr>
        <p:spPr>
          <a:xfrm>
            <a:off x="5029200" y="424281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% has low XGBoost importance but significant interaction with vacuum — adjusting starch alone rarely corrects out-of-spec batches.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98448"/>
            <a:ext cx="2743200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27632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691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322576"/>
            <a:ext cx="64008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" y="223113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Live PV gauge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2670048"/>
            <a:ext cx="64008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257860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— SHAP waterfall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64008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" y="2926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— Scenario presets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3364992"/>
            <a:ext cx="64008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" y="32735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— Model metrics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3712464"/>
            <a:ext cx="64008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362102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Monitor — SPC chart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46120" y="1298448"/>
            <a:ext cx="2743200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46120" y="1298448"/>
            <a:ext cx="2743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627632"/>
            <a:ext cx="475488" cy="4754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941064" y="1691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3429000" y="2322576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Text 22"/>
          <p:cNvSpPr/>
          <p:nvPr/>
        </p:nvSpPr>
        <p:spPr>
          <a:xfrm>
            <a:off x="3584448" y="223113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/predict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29000" y="2670048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4"/>
          <p:cNvSpPr/>
          <p:nvPr/>
        </p:nvSpPr>
        <p:spPr>
          <a:xfrm>
            <a:off x="3584448" y="257860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/recommend (optimizer)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429000" y="3017520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Text 26"/>
          <p:cNvSpPr/>
          <p:nvPr/>
        </p:nvSpPr>
        <p:spPr>
          <a:xfrm>
            <a:off x="3584448" y="2926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/explain (SHAP)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429000" y="3364992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2" name="Text 28"/>
          <p:cNvSpPr/>
          <p:nvPr/>
        </p:nvSpPr>
        <p:spPr>
          <a:xfrm>
            <a:off x="3584448" y="32735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/model-metrics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429000" y="3712464"/>
            <a:ext cx="64008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4" name="Text 30"/>
          <p:cNvSpPr/>
          <p:nvPr/>
        </p:nvSpPr>
        <p:spPr>
          <a:xfrm>
            <a:off x="3584448" y="362102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/batch-analysis (×1000)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126480" y="1298448"/>
            <a:ext cx="2743200" cy="349300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26480" y="1298448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3"/>
          <p:cNvSpPr/>
          <p:nvPr/>
        </p:nvSpPr>
        <p:spPr>
          <a:xfrm>
            <a:off x="626364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LAYER</a:t>
            </a:r>
            <a:endParaRPr lang="en-US" sz="9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627632"/>
            <a:ext cx="475488" cy="4754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21424" y="1691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+ SHAP</a:t>
            </a:r>
            <a:endParaRPr lang="en-US" sz="1500" dirty="0"/>
          </a:p>
        </p:txBody>
      </p:sp>
      <p:sp>
        <p:nvSpPr>
          <p:cNvPr id="40" name="Shape 35"/>
          <p:cNvSpPr/>
          <p:nvPr/>
        </p:nvSpPr>
        <p:spPr>
          <a:xfrm>
            <a:off x="6309360" y="2322576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1" name="Text 36"/>
          <p:cNvSpPr/>
          <p:nvPr/>
        </p:nvSpPr>
        <p:spPr>
          <a:xfrm>
            <a:off x="6464808" y="223113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32-feature engineering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309360" y="2670048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3" name="Text 38"/>
          <p:cNvSpPr/>
          <p:nvPr/>
        </p:nvSpPr>
        <p:spPr>
          <a:xfrm>
            <a:off x="6464808" y="257860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800-iter stochastic optimizer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309360" y="3017520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5" name="Text 40"/>
          <p:cNvSpPr/>
          <p:nvPr/>
        </p:nvSpPr>
        <p:spPr>
          <a:xfrm>
            <a:off x="6464808" y="29260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TreeExplainer (SHAP)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309360" y="3364992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7" name="Text 42"/>
          <p:cNvSpPr/>
          <p:nvPr/>
        </p:nvSpPr>
        <p:spPr>
          <a:xfrm>
            <a:off x="6464808" y="32735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estimation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309360" y="3712464"/>
            <a:ext cx="64008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9" name="Text 44"/>
          <p:cNvSpPr/>
          <p:nvPr/>
        </p:nvSpPr>
        <p:spPr>
          <a:xfrm>
            <a:off x="6464808" y="362102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365760" y="4864608"/>
            <a:ext cx="845820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1" name="Text 46"/>
          <p:cNvSpPr/>
          <p:nvPr/>
        </p:nvSpPr>
        <p:spPr>
          <a:xfrm>
            <a:off x="45720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INFRA: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1371600" y="4901184"/>
            <a:ext cx="1170432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1371600" y="49011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2615184" y="4901184"/>
            <a:ext cx="1170432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615184" y="49011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7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3858768" y="4901184"/>
            <a:ext cx="1170432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858768" y="49011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Proxy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5102352" y="4901184"/>
            <a:ext cx="1170432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102352" y="49011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750" dirty="0"/>
          </a:p>
        </p:txBody>
      </p:sp>
      <p:sp>
        <p:nvSpPr>
          <p:cNvPr id="60" name="Shape 55"/>
          <p:cNvSpPr/>
          <p:nvPr/>
        </p:nvSpPr>
        <p:spPr>
          <a:xfrm>
            <a:off x="6345936" y="4901184"/>
            <a:ext cx="1170432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345936" y="49011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7589520" y="4901184"/>
            <a:ext cx="1170432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7589520" y="49011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Deploy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TOUR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5-Page Operations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98448"/>
            <a:ext cx="4041648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54864" cy="10972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3898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642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898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63040" y="1700784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PV gauge with animated needle, 4-hour trend chart, quality donut, feature importance bars, and live process parameter cards.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487168"/>
            <a:ext cx="4041648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87168"/>
            <a:ext cx="54864" cy="1097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" y="257860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529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57860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Prediction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463040" y="2889504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parameter sliders with real-time feedback. SHAP waterfall chart shows feature contributions. Spec alert with optimizer link.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11480" y="3675888"/>
            <a:ext cx="4041648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3675888"/>
            <a:ext cx="54864" cy="10972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5"/>
          <p:cNvSpPr/>
          <p:nvPr/>
        </p:nvSpPr>
        <p:spPr>
          <a:xfrm>
            <a:off x="576072" y="376732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416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76732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463040" y="4078224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preset OOS scenarios. Stochastic optimizer returns before→after gauge, priority-tagged recommendation cards.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63440" y="1298448"/>
            <a:ext cx="4041648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1298448"/>
            <a:ext cx="54864" cy="10972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0"/>
          <p:cNvSpPr/>
          <p:nvPr/>
        </p:nvSpPr>
        <p:spPr>
          <a:xfrm>
            <a:off x="4828032" y="13898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66420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15000" y="13898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Analytics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715000" y="1700784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table, dual-bar XGBoost vs SHAP importance, CV fold chart, residual histogram, sensitivity bars.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663440" y="2487168"/>
            <a:ext cx="4041648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63440" y="2487168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Text 25"/>
          <p:cNvSpPr/>
          <p:nvPr/>
        </p:nvSpPr>
        <p:spPr>
          <a:xfrm>
            <a:off x="4828032" y="257860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85292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715000" y="257860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Monitor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5715000" y="2889504"/>
            <a:ext cx="2852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control chart with UCL/LCL reference lines, colored OOS dots. 24h batch table with fix routing to optimizer.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11480" y="4892040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6" name="Shape 29"/>
          <p:cNvSpPr/>
          <p:nvPr/>
        </p:nvSpPr>
        <p:spPr>
          <a:xfrm>
            <a:off x="411480" y="4956048"/>
            <a:ext cx="133502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11480" y="49560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1837944" y="4956048"/>
            <a:ext cx="133502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837944" y="49560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3264408" y="4956048"/>
            <a:ext cx="133502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264408" y="49560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4690872" y="4956048"/>
            <a:ext cx="133502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690872" y="49560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TailwindCSS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117336" y="4956048"/>
            <a:ext cx="133502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117336" y="49560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Mono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7543800" y="4956048"/>
            <a:ext cx="133502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543800" y="495604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Lucide Icons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Quantified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412480" cy="228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vs AFTER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366760" cy="29260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4920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69480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3667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385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1938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83–85%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91.1%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05472" y="1938528"/>
            <a:ext cx="1508760" cy="201168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938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+6–8pp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67712"/>
            <a:ext cx="83667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59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±0.1 PV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46120" y="2359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~60% est.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359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05472" y="2359152"/>
            <a:ext cx="1508760" cy="201168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2359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+28pp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83667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7797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±0.2 PV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2779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~80% est.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7797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99.8%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05472" y="2779776"/>
            <a:ext cx="1508760" cy="201168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27797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83667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2004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Time-to-Correction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3200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20–40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3200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30 sec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05472" y="3200400"/>
            <a:ext cx="1508760" cy="201168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3200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80× faster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529584"/>
            <a:ext cx="836676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6210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 Batch Visibility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3621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05472" y="3621024"/>
            <a:ext cx="1508760" cy="20116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223760" y="3621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Always-on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950208"/>
            <a:ext cx="836676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041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Save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46120" y="4041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$60K+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05472" y="4041648"/>
            <a:ext cx="1508760" cy="20116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6% OOS↓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919472"/>
            <a:ext cx="8366760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919472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24 / 24 pytest tests passing  |  Next.js builds clean with zero TypeScript errors  |  All API endpoints verified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029200" y="-1097280"/>
            <a:ext cx="5029200" cy="7772400"/>
          </a:xfrm>
          <a:prstGeom prst="rect">
            <a:avLst/>
          </a:prstGeom>
          <a:solidFill>
            <a:srgbClr val="0D9488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9144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645920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21214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457200" y="296265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Optimize.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02920" y="38587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via Docker Compose or cloud-deploy to Render/Railway in minutes.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4681728"/>
            <a:ext cx="20574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4681728"/>
            <a:ext cx="20574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" y="4754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" y="5020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on production feedback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9192" y="4681728"/>
            <a:ext cx="20574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79192" y="4681728"/>
            <a:ext cx="20574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4"/>
          <p:cNvSpPr/>
          <p:nvPr/>
        </p:nvSpPr>
        <p:spPr>
          <a:xfrm>
            <a:off x="2788920" y="4754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Integration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0" y="5020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OPC-UA live data from plant floor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855464" y="4681728"/>
            <a:ext cx="20574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55464" y="4681728"/>
            <a:ext cx="20574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8"/>
          <p:cNvSpPr/>
          <p:nvPr/>
        </p:nvSpPr>
        <p:spPr>
          <a:xfrm>
            <a:off x="4965192" y="4754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Optimization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65192" y="5020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stochastic with Optuna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031736" y="4681728"/>
            <a:ext cx="20574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31736" y="4681728"/>
            <a:ext cx="20574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2"/>
          <p:cNvSpPr/>
          <p:nvPr/>
        </p:nvSpPr>
        <p:spPr>
          <a:xfrm>
            <a:off x="7141464" y="4754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Prediction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41464" y="5020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uncertainty quantification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SoapPV-AI</dc:title>
  <dc:subject>PptxGenJS Presentation</dc:subject>
  <dc:creator>PptxGenJS</dc:creator>
  <cp:lastModifiedBy>PptxGenJS</cp:lastModifiedBy>
  <cp:revision>1</cp:revision>
  <dcterms:created xsi:type="dcterms:W3CDTF">2026-06-08T16:07:16Z</dcterms:created>
  <dcterms:modified xsi:type="dcterms:W3CDTF">2026-06-08T16:07:16Z</dcterms:modified>
</cp:coreProperties>
</file>